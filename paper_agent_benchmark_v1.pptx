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884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0" y="156591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Paper Agent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0" y="252603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Benchmark Evaluation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3211830"/>
            <a:ext cx="274320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353187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벤치마크 평가 프레임워크 설계  ·  Gold Label 생성  ·  자동화 QA 파이프라인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벤치마크가 필요한가?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블랙박스 문제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801368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LLM은 왜 해당 논문을 추천했는지 설명할 </a:t>
            </a:r>
            <a:r>
              <a:rPr lang="en-US" sz="120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</a:t>
            </a: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</a:t>
            </a:r>
            <a:r>
              <a:rPr lang="ko-KR" alt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</a:t>
            </a: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추천 근거가 없으면 학술 연구에 활용할 </a:t>
            </a:r>
            <a:r>
              <a:rPr lang="en-US" sz="120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</a:t>
            </a: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</a:t>
            </a:r>
            <a:r>
              <a:rPr lang="ko-KR" alt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</a:t>
            </a: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53288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53288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환각(Hallucination) 위험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916936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ChatGPT 등 단일 </a:t>
            </a:r>
            <a:r>
              <a:rPr lang="en-US" sz="120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모델은</a:t>
            </a: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DOI</a:t>
            </a:r>
            <a:r>
              <a:rPr lang="en-US" altLang="ko-KR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r>
              <a:rPr lang="ko-KR" alt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저자</a:t>
            </a:r>
            <a:r>
              <a:rPr lang="en-US" altLang="ko-KR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r>
              <a:rPr lang="ko-KR" alt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제목을</a:t>
            </a: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조합해 실제로 존재하지 않는 가짜 논문을 </a:t>
            </a:r>
            <a:r>
              <a:rPr lang="en-US" sz="120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그럴듯하게</a:t>
            </a: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</a:t>
            </a:r>
            <a:r>
              <a:rPr lang="ko-KR" alt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</a:t>
            </a: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64845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364845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정량적 증명 필요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032504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우수성을 주관적 판단이 </a:t>
            </a:r>
            <a:r>
              <a:rPr lang="en-US" sz="120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아닌</a:t>
            </a: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precision_at_5, ndcg_at_5, DOI 정확도 등 객관적 지표로 </a:t>
            </a:r>
            <a:r>
              <a:rPr lang="en-US" sz="120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증명해야</a:t>
            </a: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</a:t>
            </a:r>
            <a:r>
              <a:rPr lang="en-US" sz="12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0876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25196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12단계 다중 에이전트 파이프라인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101852"/>
            <a:ext cx="813816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1311639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275063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Planner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1531095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검색어 분석 → 작업 순서 및 API 호출 계획 수립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1865976"/>
            <a:ext cx="4160520" cy="731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800600" y="1311639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0" y="1275063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Journal Selector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12080" y="1531095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경영대 승인 우수 학술지 목록 로드 → 탐색 필터 기준 설정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00600" y="1865976"/>
            <a:ext cx="4160520" cy="731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11480" y="1933431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1896855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Search / Retriever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2152887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키워드로 학술 DB 접근 → 초기 논문 후보군 수집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2487768"/>
            <a:ext cx="4160520" cy="731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800600" y="1933431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1896855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Journal Filtering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12080" y="2152887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논문이 승인 저널 소속인지 대조 → 미달 즉각 탈락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00600" y="2487768"/>
            <a:ext cx="4160520" cy="731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11480" y="2555223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2518647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Verifier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2774679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DOI </a:t>
            </a:r>
            <a:r>
              <a:rPr lang="en-US" sz="85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기반</a:t>
            </a: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85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출판사</a:t>
            </a:r>
            <a:r>
              <a:rPr lang="en-US" altLang="ko-KR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r>
              <a:rPr lang="ko-KR" alt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85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발행연도</a:t>
            </a:r>
            <a:r>
              <a:rPr lang="en-US" altLang="ko-KR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메타데이터 100% 진위 확인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3109560"/>
            <a:ext cx="4160520" cy="731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800600" y="2555223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12080" y="2518647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 Access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12080" y="2774679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논문 중 무료 원문 PDF 링크 존재 여부 확인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00600" y="3109560"/>
            <a:ext cx="4160520" cy="731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11480" y="3177015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" y="3140439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Storage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" y="3396471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 PDF 다운로드 → 클라우드 스토리지 아카이브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11480" y="3731352"/>
            <a:ext cx="4160520" cy="731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800600" y="3177015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12080" y="3140439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Evaluation Prep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12080" y="3396471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적합성 평가를 </a:t>
            </a:r>
            <a:r>
              <a:rPr lang="en-US" sz="85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위한</a:t>
            </a: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85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초록</a:t>
            </a:r>
            <a:r>
              <a:rPr lang="en-US" altLang="ko-KR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r>
              <a:rPr lang="ko-KR" alt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85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</a:t>
            </a:r>
            <a:r>
              <a:rPr lang="en-US" altLang="ko-KR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r>
              <a:rPr lang="ko-KR" alt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85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메타데이터</a:t>
            </a: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정제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00600" y="3731352"/>
            <a:ext cx="4160520" cy="731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11480" y="3798807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960" y="3762231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Relevance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22960" y="4018263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검색어 ↔ 논문 초록 간 의미적 연관성 측정 및 점수화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11480" y="4353144"/>
            <a:ext cx="4160520" cy="731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800600" y="3798807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12080" y="3762231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Ranking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212080" y="4018263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적합성 35% · 저널등급 20% · 검증 15% · 인용수 10% 등 종합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00600" y="4353144"/>
            <a:ext cx="4160520" cy="731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11480" y="4420599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22960" y="4384023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Critic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22960" y="4640055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 랭크 논문 재검사 → 관련성 부족·메타데이터 결함 Risk Flag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00600" y="4420599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12080" y="4384023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Report / Delivery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212080" y="4640055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검증·순위 완료 결과를 PDF·Excel·Markdown 보고서로 생성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95681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BENCHMARK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70001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지표 설계 (Paper-Agent-Bench)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146657"/>
            <a:ext cx="813816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813816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3213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Precision</a:t>
            </a:r>
            <a:r>
              <a:rPr lang="en-US" altLang="ko-KR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_at_</a:t>
            </a: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329537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시스템이 추천한 상위 5개 논문 중 실제 관련 논문(Gold Label)의 비율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813816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20528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Ndcg_at_5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2016252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랭킹 품질 지표 — 관련성이 높은 논문이 1위, 2위 등 상위에 제대로 배치되었는가 (1.0에 가까울수록 완벽)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337560"/>
            <a:ext cx="813816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7843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DOI Accuracy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274305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논문의 DOI가 실제 Crossref DB에 존재하는 진짜 논문인지 검증 (환각 여부 판별)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069080"/>
            <a:ext cx="813816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35158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 Journal Precision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3479292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논문이 사전 승인된 국제 </a:t>
            </a:r>
            <a:r>
              <a:rPr lang="en-US" sz="115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S급</a:t>
            </a: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A1급 우수 학술지 소속인지 확인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800600"/>
            <a:ext cx="813816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2920" y="4248737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Hallucination Rate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4216299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가상의 논문을 지어내거나 출처를 조작한 비율 — 0.0이 목표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239573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Automated Baseline Review QA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16229"/>
            <a:ext cx="813816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1241755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 —  수동 Gold Label </a:t>
            </a:r>
            <a:r>
              <a:rPr lang="en-US" sz="1300" b="1" dirty="0" err="1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625803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T001~T003 Proposed Agent 추천 논문 15개 전부 직접 검토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973275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manual_relevance 점수(1~5) 부여 및 manual_decision (include / review / reject) 판정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320747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T003: 광고효과 직접 매칭 1건 include, 인접 주제 4건 review, 무관련 10건 reject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668219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결과물: benchmark/manual_review_proposed.csv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72968"/>
            <a:ext cx="813816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3366821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 —  자동화 </a:t>
            </a:r>
            <a:r>
              <a:rPr lang="en-US" sz="1300" b="1" dirty="0" err="1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</a:t>
            </a: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QA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750869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benchmark/scripts/auto-review-baselines.mjs 유지보수 및 개선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4098341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rule_based / single_llm 두 베이스라인 결과에 대한 자동 관련성 판정 체계 구축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4445813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결과물: auto_review_baseline_results.csv, auto_review_baseline_summary.json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294437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 판정 기준 및 T003 실제 결과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971093"/>
            <a:ext cx="813816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manual_decision 판정 기준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840480" cy="749808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856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include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8541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4~5점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9659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관련 — 검색 주제와 정확히 일치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79192"/>
            <a:ext cx="3840480" cy="749808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27523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0815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2~3점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2862072"/>
            <a:ext cx="234446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간접 관련 — 인접 주제, 직접 답변 아님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575304"/>
            <a:ext cx="3840480" cy="749808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85800" y="36484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reject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977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0~1점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20240" y="3758184"/>
            <a:ext cx="234446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무관련 — 키워드만 겹치고 내용 불일치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T003 실제 판정 결과 (15건)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719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검색어: AI interview employer branding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2029968"/>
            <a:ext cx="3840480" cy="292608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956048" y="2066544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70448" y="206654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10528" y="2066544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비율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59168" y="2066544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2322576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956048" y="241401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include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70448" y="24140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10528" y="241401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6.7%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59168" y="241401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광고효과 직접 매칭 1건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2761488"/>
            <a:ext cx="3840480" cy="438912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956048" y="28529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70448" y="28529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10528" y="2852928"/>
            <a:ext cx="6397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26.7%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59168" y="28529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마케팅 인접 주제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3200400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956048" y="3291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reject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70448" y="32918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10528" y="3291840"/>
            <a:ext cx="78968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66.7%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59168" y="32918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</a:t>
            </a: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불일치</a:t>
            </a: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en-US" sz="1100" dirty="0" err="1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약한</a:t>
            </a: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연관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92040" y="36576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15건 판정 완료  (T001~T003 전체 Proposed Agent 결과 대상)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29658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QA 파이프라인 구현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973236"/>
            <a:ext cx="813816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129814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benchmark:auto-review-baselines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자동 판정 규칙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121408"/>
            <a:ext cx="53035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8368" y="22128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 matched_gold_id 존재  +  relevance ≥ 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86200" y="2212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include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670048"/>
            <a:ext cx="53035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58368" y="27614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 title keyword overlap ≥ 0.4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86200" y="2761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review_by_rule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218688"/>
            <a:ext cx="53035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8368" y="33101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 not_top_journal (미승인 저널)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86200" y="3310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review_by_rule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767328"/>
            <a:ext cx="53035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8368" y="38587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 keyword overlap = 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86200" y="3858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reject (low_relevance)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80760" y="17830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커맨드 4종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2121408"/>
            <a:ext cx="274320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172200" y="21762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benchmark:audit-gold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72200" y="235915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Gold 라벨 검증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2670048"/>
            <a:ext cx="274320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172200" y="27249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benchmark:evaluate-proposed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72200" y="290779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Proposed Agent 평가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3218688"/>
            <a:ext cx="274320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172200" y="32735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benchmark:compare-baselines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72200" y="345643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베이스라인 비교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3767328"/>
            <a:ext cx="274320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172200" y="38221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benchmark:auto-review-baselines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72200" y="40050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리뷰 실행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55431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원칙: 메타데이터로 재현 가능한 경우에만 규칙 개선 — 수동 판단 파일 신규 생성 금지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8556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3-Way 벤치마크 비교 결과 (T001~T003, k=5)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813816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8321040" cy="347472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76072" y="137160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96312" y="1371600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Rule-Based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53712" y="1371600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Single LLM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11112" y="137160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Paper Agent (우리 시스템)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700784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76072" y="18105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Precision_at_5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96312" y="18105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0.1333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53712" y="18105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0.6667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11112" y="18105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0.1333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267712"/>
            <a:ext cx="832104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76072" y="23774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Ndcg_at_5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96312" y="23774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0.3579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53712" y="23774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0.9949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11112" y="23774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0.3579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283464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76072" y="29443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DOI 정확도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496312" y="294436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1.0000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53712" y="294436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1.0000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11112" y="29443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1.0000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3401568"/>
            <a:ext cx="832104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76072" y="351129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 Journal Precision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496312" y="351129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1.0000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53712" y="351129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0.9333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11112" y="351129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1.0000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396849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76072" y="407822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Hallucination Rate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496312" y="407822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53712" y="407822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</a:t>
            </a: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11112" y="407822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242316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태스크별 세부 결과 (T001 ~ T003)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18972"/>
            <a:ext cx="813816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22DE9655-5448-A7F5-18D1-DF6152B0D1DC}"/>
              </a:ext>
            </a:extLst>
          </p:cNvPr>
          <p:cNvGrpSpPr/>
          <p:nvPr/>
        </p:nvGrpSpPr>
        <p:grpSpPr>
          <a:xfrm>
            <a:off x="411480" y="1280160"/>
            <a:ext cx="8321040" cy="3621024"/>
            <a:chOff x="502920" y="1353312"/>
            <a:chExt cx="8321040" cy="3621024"/>
          </a:xfrm>
        </p:grpSpPr>
        <p:sp>
          <p:nvSpPr>
            <p:cNvPr id="12" name="Shape 10"/>
            <p:cNvSpPr/>
            <p:nvPr/>
          </p:nvSpPr>
          <p:spPr>
            <a:xfrm>
              <a:off x="502920" y="1682496"/>
              <a:ext cx="8321040" cy="365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Shape 38"/>
            <p:cNvSpPr/>
            <p:nvPr/>
          </p:nvSpPr>
          <p:spPr>
            <a:xfrm>
              <a:off x="502920" y="3145536"/>
              <a:ext cx="8321040" cy="365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Shape 59"/>
            <p:cNvSpPr/>
            <p:nvPr/>
          </p:nvSpPr>
          <p:spPr>
            <a:xfrm>
              <a:off x="502920" y="4242816"/>
              <a:ext cx="8321040" cy="365760"/>
            </a:xfrm>
            <a:prstGeom prst="rect">
              <a:avLst/>
            </a:prstGeom>
            <a:solidFill>
              <a:srgbClr val="F8F8F8"/>
            </a:solidFill>
            <a:ln w="1270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C70C6D99-4F8A-04FD-AB26-873E6BC381FB}"/>
                </a:ext>
              </a:extLst>
            </p:cNvPr>
            <p:cNvGrpSpPr/>
            <p:nvPr/>
          </p:nvGrpSpPr>
          <p:grpSpPr>
            <a:xfrm>
              <a:off x="502920" y="1353312"/>
              <a:ext cx="8321040" cy="3621024"/>
              <a:chOff x="502920" y="1353312"/>
              <a:chExt cx="8321040" cy="3621024"/>
            </a:xfrm>
          </p:grpSpPr>
          <p:sp>
            <p:nvSpPr>
              <p:cNvPr id="5" name="Shape 3"/>
              <p:cNvSpPr/>
              <p:nvPr/>
            </p:nvSpPr>
            <p:spPr>
              <a:xfrm>
                <a:off x="502920" y="1353312"/>
                <a:ext cx="8321040" cy="329184"/>
              </a:xfrm>
              <a:prstGeom prst="rect">
                <a:avLst/>
              </a:prstGeom>
              <a:solidFill>
                <a:srgbClr val="EEEEEE"/>
              </a:solidFill>
              <a:ln w="12700">
                <a:solidFill>
                  <a:srgbClr val="CCCCCC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" name="Text 4"/>
              <p:cNvSpPr/>
              <p:nvPr/>
            </p:nvSpPr>
            <p:spPr>
              <a:xfrm>
                <a:off x="548640" y="1371600"/>
                <a:ext cx="96012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000" b="1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Task</a:t>
                </a:r>
                <a:endParaRPr lang="en-US" sz="1000" dirty="0"/>
              </a:p>
            </p:txBody>
          </p:sp>
          <p:sp>
            <p:nvSpPr>
              <p:cNvPr id="7" name="Text 5"/>
              <p:cNvSpPr/>
              <p:nvPr/>
            </p:nvSpPr>
            <p:spPr>
              <a:xfrm>
                <a:off x="1645920" y="1371600"/>
                <a:ext cx="150876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000" b="1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Method</a:t>
                </a:r>
                <a:endParaRPr lang="en-US" sz="1000" dirty="0"/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3291840" y="1371600"/>
                <a:ext cx="128016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Precision_at_5</a:t>
                </a:r>
                <a:endParaRPr lang="en-US" sz="1000" dirty="0"/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4709160" y="1371600"/>
                <a:ext cx="123444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NDCG_at_5</a:t>
                </a:r>
                <a:endParaRPr lang="en-US" sz="100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6080760" y="1371600"/>
                <a:ext cx="118872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DOI Hit Rate</a:t>
                </a:r>
                <a:endParaRPr lang="en-US" sz="1000" dirty="0"/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7406640" y="1371600"/>
                <a:ext cx="132588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Top Journal</a:t>
                </a:r>
                <a:endParaRPr lang="en-US" sz="1000" dirty="0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548640" y="1755648"/>
                <a:ext cx="96012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T001</a:t>
                </a:r>
                <a:endParaRPr lang="en-US" sz="1100" dirty="0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1645920" y="1755648"/>
                <a:ext cx="150876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Rule-Based</a:t>
                </a:r>
                <a:endParaRPr lang="en-US" sz="1100" dirty="0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3291840" y="1755648"/>
                <a:ext cx="128016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0.200</a:t>
                </a:r>
                <a:endParaRPr lang="en-US" sz="1100" dirty="0"/>
              </a:p>
            </p:txBody>
          </p:sp>
          <p:sp>
            <p:nvSpPr>
              <p:cNvPr id="16" name="Text 14"/>
              <p:cNvSpPr/>
              <p:nvPr/>
            </p:nvSpPr>
            <p:spPr>
              <a:xfrm>
                <a:off x="4709160" y="1755648"/>
                <a:ext cx="123444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0.6463</a:t>
                </a:r>
                <a:endParaRPr lang="en-US" sz="1100" dirty="0"/>
              </a:p>
            </p:txBody>
          </p:sp>
          <p:sp>
            <p:nvSpPr>
              <p:cNvPr id="17" name="Text 15"/>
              <p:cNvSpPr/>
              <p:nvPr/>
            </p:nvSpPr>
            <p:spPr>
              <a:xfrm>
                <a:off x="6080760" y="1755648"/>
                <a:ext cx="118872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0.333</a:t>
                </a:r>
                <a:endParaRPr lang="en-US" sz="1100" dirty="0"/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7406640" y="1755648"/>
                <a:ext cx="132588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1.000</a:t>
                </a:r>
                <a:endParaRPr lang="en-US" sz="1100" dirty="0"/>
              </a:p>
            </p:txBody>
          </p:sp>
          <p:sp>
            <p:nvSpPr>
              <p:cNvPr id="19" name="Shape 17"/>
              <p:cNvSpPr/>
              <p:nvPr/>
            </p:nvSpPr>
            <p:spPr>
              <a:xfrm>
                <a:off x="502920" y="2048256"/>
                <a:ext cx="8321040" cy="365760"/>
              </a:xfrm>
              <a:prstGeom prst="rect">
                <a:avLst/>
              </a:prstGeom>
              <a:solidFill>
                <a:srgbClr val="F8F8F8"/>
              </a:solidFill>
              <a:ln w="12700">
                <a:solidFill>
                  <a:srgbClr val="CCCCCC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548640" y="2121408"/>
                <a:ext cx="96012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T001</a:t>
                </a:r>
                <a:endParaRPr lang="en-US" sz="1100" dirty="0"/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1645920" y="2121408"/>
                <a:ext cx="150876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Single LLM</a:t>
                </a:r>
                <a:endParaRPr lang="en-US" sz="1100" dirty="0"/>
              </a:p>
            </p:txBody>
          </p:sp>
          <p:sp>
            <p:nvSpPr>
              <p:cNvPr id="22" name="Text 20"/>
              <p:cNvSpPr/>
              <p:nvPr/>
            </p:nvSpPr>
            <p:spPr>
              <a:xfrm>
                <a:off x="3291840" y="2121408"/>
                <a:ext cx="128016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0.600</a:t>
                </a:r>
                <a:endParaRPr lang="en-US" sz="1100" dirty="0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4709160" y="2121408"/>
                <a:ext cx="123444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1.0000</a:t>
                </a:r>
                <a:endParaRPr lang="en-US" sz="1100" dirty="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6080760" y="2121408"/>
                <a:ext cx="118872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1.000</a:t>
                </a:r>
                <a:endParaRPr lang="en-US" sz="1100" dirty="0"/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7406640" y="2121408"/>
                <a:ext cx="132588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0.800</a:t>
                </a:r>
                <a:endParaRPr lang="en-US" sz="1100" dirty="0"/>
              </a:p>
            </p:txBody>
          </p:sp>
          <p:sp>
            <p:nvSpPr>
              <p:cNvPr id="26" name="Shape 24"/>
              <p:cNvSpPr/>
              <p:nvPr/>
            </p:nvSpPr>
            <p:spPr>
              <a:xfrm>
                <a:off x="502920" y="2414016"/>
                <a:ext cx="8321040" cy="3657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CCCCCC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Text 25"/>
              <p:cNvSpPr/>
              <p:nvPr/>
            </p:nvSpPr>
            <p:spPr>
              <a:xfrm>
                <a:off x="548640" y="2487168"/>
                <a:ext cx="96012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T001</a:t>
                </a:r>
                <a:endParaRPr lang="en-US" sz="1100" dirty="0"/>
              </a:p>
            </p:txBody>
          </p:sp>
          <p:sp>
            <p:nvSpPr>
              <p:cNvPr id="28" name="Text 26"/>
              <p:cNvSpPr/>
              <p:nvPr/>
            </p:nvSpPr>
            <p:spPr>
              <a:xfrm>
                <a:off x="1645920" y="2487168"/>
                <a:ext cx="150876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Paper Agent</a:t>
                </a:r>
                <a:endParaRPr lang="en-US" sz="1100" dirty="0"/>
              </a:p>
            </p:txBody>
          </p:sp>
          <p:sp>
            <p:nvSpPr>
              <p:cNvPr id="29" name="Text 27"/>
              <p:cNvSpPr/>
              <p:nvPr/>
            </p:nvSpPr>
            <p:spPr>
              <a:xfrm>
                <a:off x="3291840" y="2487168"/>
                <a:ext cx="128016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0.200</a:t>
                </a:r>
                <a:endParaRPr lang="en-US" sz="1100" dirty="0"/>
              </a:p>
            </p:txBody>
          </p:sp>
          <p:sp>
            <p:nvSpPr>
              <p:cNvPr id="30" name="Text 28"/>
              <p:cNvSpPr/>
              <p:nvPr/>
            </p:nvSpPr>
            <p:spPr>
              <a:xfrm>
                <a:off x="4709160" y="2487168"/>
                <a:ext cx="123444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0.6463</a:t>
                </a:r>
                <a:endParaRPr lang="en-US" sz="1100" dirty="0"/>
              </a:p>
            </p:txBody>
          </p:sp>
          <p:sp>
            <p:nvSpPr>
              <p:cNvPr id="31" name="Text 29"/>
              <p:cNvSpPr/>
              <p:nvPr/>
            </p:nvSpPr>
            <p:spPr>
              <a:xfrm>
                <a:off x="6080760" y="2487168"/>
                <a:ext cx="118872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0.333</a:t>
                </a:r>
                <a:endParaRPr lang="en-US" sz="1100" dirty="0"/>
              </a:p>
            </p:txBody>
          </p:sp>
          <p:sp>
            <p:nvSpPr>
              <p:cNvPr id="32" name="Text 30"/>
              <p:cNvSpPr/>
              <p:nvPr/>
            </p:nvSpPr>
            <p:spPr>
              <a:xfrm>
                <a:off x="7406640" y="2487168"/>
                <a:ext cx="132588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1.000</a:t>
                </a:r>
                <a:endParaRPr lang="en-US" sz="1100" dirty="0"/>
              </a:p>
            </p:txBody>
          </p:sp>
          <p:sp>
            <p:nvSpPr>
              <p:cNvPr id="33" name="Shape 31"/>
              <p:cNvSpPr/>
              <p:nvPr/>
            </p:nvSpPr>
            <p:spPr>
              <a:xfrm>
                <a:off x="502920" y="2779776"/>
                <a:ext cx="8321040" cy="365760"/>
              </a:xfrm>
              <a:prstGeom prst="rect">
                <a:avLst/>
              </a:prstGeom>
              <a:solidFill>
                <a:srgbClr val="F8F8F8"/>
              </a:solidFill>
              <a:ln w="12700">
                <a:solidFill>
                  <a:srgbClr val="CCCCCC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 32"/>
              <p:cNvSpPr/>
              <p:nvPr/>
            </p:nvSpPr>
            <p:spPr>
              <a:xfrm>
                <a:off x="548640" y="2852928"/>
                <a:ext cx="96012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T002</a:t>
                </a:r>
                <a:endParaRPr lang="en-US" sz="1100" dirty="0"/>
              </a:p>
            </p:txBody>
          </p:sp>
          <p:sp>
            <p:nvSpPr>
              <p:cNvPr id="35" name="Text 33"/>
              <p:cNvSpPr/>
              <p:nvPr/>
            </p:nvSpPr>
            <p:spPr>
              <a:xfrm>
                <a:off x="1645920" y="2852928"/>
                <a:ext cx="150876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Rule-Based</a:t>
                </a:r>
                <a:endParaRPr lang="en-US" sz="1100" dirty="0"/>
              </a:p>
            </p:txBody>
          </p:sp>
          <p:sp>
            <p:nvSpPr>
              <p:cNvPr id="36" name="Text 34"/>
              <p:cNvSpPr/>
              <p:nvPr/>
            </p:nvSpPr>
            <p:spPr>
              <a:xfrm>
                <a:off x="3291840" y="2852928"/>
                <a:ext cx="128016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0.000</a:t>
                </a:r>
                <a:endParaRPr lang="en-US" sz="1100" dirty="0"/>
              </a:p>
            </p:txBody>
          </p:sp>
          <p:sp>
            <p:nvSpPr>
              <p:cNvPr id="37" name="Text 35"/>
              <p:cNvSpPr/>
              <p:nvPr/>
            </p:nvSpPr>
            <p:spPr>
              <a:xfrm>
                <a:off x="4709160" y="2852928"/>
                <a:ext cx="123444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0.0000</a:t>
                </a:r>
                <a:endParaRPr lang="en-US" sz="1100" dirty="0"/>
              </a:p>
            </p:txBody>
          </p:sp>
          <p:sp>
            <p:nvSpPr>
              <p:cNvPr id="38" name="Text 36"/>
              <p:cNvSpPr/>
              <p:nvPr/>
            </p:nvSpPr>
            <p:spPr>
              <a:xfrm>
                <a:off x="6080760" y="2852928"/>
                <a:ext cx="118872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0.000</a:t>
                </a:r>
                <a:endParaRPr lang="en-US" sz="1100" dirty="0"/>
              </a:p>
            </p:txBody>
          </p:sp>
          <p:sp>
            <p:nvSpPr>
              <p:cNvPr id="39" name="Text 37"/>
              <p:cNvSpPr/>
              <p:nvPr/>
            </p:nvSpPr>
            <p:spPr>
              <a:xfrm>
                <a:off x="7406640" y="2852928"/>
                <a:ext cx="132588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1.000</a:t>
                </a:r>
                <a:endParaRPr lang="en-US" sz="1100" dirty="0"/>
              </a:p>
            </p:txBody>
          </p:sp>
          <p:sp>
            <p:nvSpPr>
              <p:cNvPr id="41" name="Text 39"/>
              <p:cNvSpPr/>
              <p:nvPr/>
            </p:nvSpPr>
            <p:spPr>
              <a:xfrm>
                <a:off x="548640" y="3218688"/>
                <a:ext cx="96012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T002</a:t>
                </a:r>
                <a:endParaRPr lang="en-US" sz="1100" dirty="0"/>
              </a:p>
            </p:txBody>
          </p:sp>
          <p:sp>
            <p:nvSpPr>
              <p:cNvPr id="42" name="Text 40"/>
              <p:cNvSpPr/>
              <p:nvPr/>
            </p:nvSpPr>
            <p:spPr>
              <a:xfrm>
                <a:off x="1645920" y="3218688"/>
                <a:ext cx="150876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Single LLM</a:t>
                </a:r>
                <a:endParaRPr lang="en-US" sz="1100" dirty="0"/>
              </a:p>
            </p:txBody>
          </p:sp>
          <p:sp>
            <p:nvSpPr>
              <p:cNvPr id="43" name="Text 41"/>
              <p:cNvSpPr/>
              <p:nvPr/>
            </p:nvSpPr>
            <p:spPr>
              <a:xfrm>
                <a:off x="3291840" y="3218688"/>
                <a:ext cx="128016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0.600</a:t>
                </a:r>
                <a:endParaRPr lang="en-US" sz="1100" dirty="0"/>
              </a:p>
            </p:txBody>
          </p:sp>
          <p:sp>
            <p:nvSpPr>
              <p:cNvPr id="44" name="Text 42"/>
              <p:cNvSpPr/>
              <p:nvPr/>
            </p:nvSpPr>
            <p:spPr>
              <a:xfrm>
                <a:off x="4709160" y="3218688"/>
                <a:ext cx="123444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1.0000</a:t>
                </a:r>
                <a:endParaRPr lang="en-US" sz="1100" dirty="0"/>
              </a:p>
            </p:txBody>
          </p:sp>
          <p:sp>
            <p:nvSpPr>
              <p:cNvPr id="45" name="Text 43"/>
              <p:cNvSpPr/>
              <p:nvPr/>
            </p:nvSpPr>
            <p:spPr>
              <a:xfrm>
                <a:off x="6080760" y="3218688"/>
                <a:ext cx="118872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1.000</a:t>
                </a:r>
                <a:endParaRPr lang="en-US" sz="1100" dirty="0"/>
              </a:p>
            </p:txBody>
          </p:sp>
          <p:sp>
            <p:nvSpPr>
              <p:cNvPr id="46" name="Text 44"/>
              <p:cNvSpPr/>
              <p:nvPr/>
            </p:nvSpPr>
            <p:spPr>
              <a:xfrm>
                <a:off x="7406640" y="3218688"/>
                <a:ext cx="132588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1.000</a:t>
                </a:r>
                <a:endParaRPr lang="en-US" sz="1100" dirty="0"/>
              </a:p>
            </p:txBody>
          </p:sp>
          <p:sp>
            <p:nvSpPr>
              <p:cNvPr id="47" name="Shape 45"/>
              <p:cNvSpPr/>
              <p:nvPr/>
            </p:nvSpPr>
            <p:spPr>
              <a:xfrm>
                <a:off x="502920" y="3511296"/>
                <a:ext cx="8321040" cy="365760"/>
              </a:xfrm>
              <a:prstGeom prst="rect">
                <a:avLst/>
              </a:prstGeom>
              <a:solidFill>
                <a:srgbClr val="F8F8F8"/>
              </a:solidFill>
              <a:ln w="12700">
                <a:solidFill>
                  <a:srgbClr val="CCCCCC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 46"/>
              <p:cNvSpPr/>
              <p:nvPr/>
            </p:nvSpPr>
            <p:spPr>
              <a:xfrm>
                <a:off x="548640" y="3584448"/>
                <a:ext cx="96012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T002</a:t>
                </a:r>
                <a:endParaRPr lang="en-US" sz="1100" dirty="0"/>
              </a:p>
            </p:txBody>
          </p:sp>
          <p:sp>
            <p:nvSpPr>
              <p:cNvPr id="49" name="Text 47"/>
              <p:cNvSpPr/>
              <p:nvPr/>
            </p:nvSpPr>
            <p:spPr>
              <a:xfrm>
                <a:off x="1645920" y="3584448"/>
                <a:ext cx="150876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Paper Agent</a:t>
                </a:r>
                <a:endParaRPr lang="en-US" sz="1100" dirty="0"/>
              </a:p>
            </p:txBody>
          </p:sp>
          <p:sp>
            <p:nvSpPr>
              <p:cNvPr id="50" name="Text 48"/>
              <p:cNvSpPr/>
              <p:nvPr/>
            </p:nvSpPr>
            <p:spPr>
              <a:xfrm>
                <a:off x="3291840" y="3584448"/>
                <a:ext cx="128016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0.000</a:t>
                </a:r>
                <a:endParaRPr lang="en-US" sz="1100" dirty="0"/>
              </a:p>
            </p:txBody>
          </p:sp>
          <p:sp>
            <p:nvSpPr>
              <p:cNvPr id="51" name="Text 49"/>
              <p:cNvSpPr/>
              <p:nvPr/>
            </p:nvSpPr>
            <p:spPr>
              <a:xfrm>
                <a:off x="4709160" y="3584448"/>
                <a:ext cx="123444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0.0000</a:t>
                </a:r>
                <a:endParaRPr lang="en-US" sz="1100" dirty="0"/>
              </a:p>
            </p:txBody>
          </p:sp>
          <p:sp>
            <p:nvSpPr>
              <p:cNvPr id="52" name="Text 50"/>
              <p:cNvSpPr/>
              <p:nvPr/>
            </p:nvSpPr>
            <p:spPr>
              <a:xfrm>
                <a:off x="6080760" y="3584448"/>
                <a:ext cx="118872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0.000</a:t>
                </a:r>
                <a:endParaRPr lang="en-US" sz="1100" dirty="0"/>
              </a:p>
            </p:txBody>
          </p:sp>
          <p:sp>
            <p:nvSpPr>
              <p:cNvPr id="53" name="Text 51"/>
              <p:cNvSpPr/>
              <p:nvPr/>
            </p:nvSpPr>
            <p:spPr>
              <a:xfrm>
                <a:off x="7406640" y="3584448"/>
                <a:ext cx="132588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1.000</a:t>
                </a:r>
                <a:endParaRPr lang="en-US" sz="1100" dirty="0"/>
              </a:p>
            </p:txBody>
          </p:sp>
          <p:sp>
            <p:nvSpPr>
              <p:cNvPr id="54" name="Shape 52"/>
              <p:cNvSpPr/>
              <p:nvPr/>
            </p:nvSpPr>
            <p:spPr>
              <a:xfrm>
                <a:off x="502920" y="3877056"/>
                <a:ext cx="8321040" cy="3657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CCCCCC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5" name="Text 53"/>
              <p:cNvSpPr/>
              <p:nvPr/>
            </p:nvSpPr>
            <p:spPr>
              <a:xfrm>
                <a:off x="548640" y="3950208"/>
                <a:ext cx="96012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T003</a:t>
                </a:r>
                <a:endParaRPr lang="en-US" sz="1100" dirty="0"/>
              </a:p>
            </p:txBody>
          </p:sp>
          <p:sp>
            <p:nvSpPr>
              <p:cNvPr id="56" name="Text 54"/>
              <p:cNvSpPr/>
              <p:nvPr/>
            </p:nvSpPr>
            <p:spPr>
              <a:xfrm>
                <a:off x="1645920" y="3950208"/>
                <a:ext cx="150876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Rule-Based</a:t>
                </a:r>
                <a:endParaRPr lang="en-US" sz="1100" dirty="0"/>
              </a:p>
            </p:txBody>
          </p:sp>
          <p:sp>
            <p:nvSpPr>
              <p:cNvPr id="57" name="Text 55"/>
              <p:cNvSpPr/>
              <p:nvPr/>
            </p:nvSpPr>
            <p:spPr>
              <a:xfrm>
                <a:off x="3291840" y="3950208"/>
                <a:ext cx="128016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0.200</a:t>
                </a:r>
                <a:endParaRPr lang="en-US" sz="1100" dirty="0"/>
              </a:p>
            </p:txBody>
          </p:sp>
          <p:sp>
            <p:nvSpPr>
              <p:cNvPr id="58" name="Text 56"/>
              <p:cNvSpPr/>
              <p:nvPr/>
            </p:nvSpPr>
            <p:spPr>
              <a:xfrm>
                <a:off x="4709160" y="3950208"/>
                <a:ext cx="123444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0.4275</a:t>
                </a:r>
                <a:endParaRPr lang="en-US" sz="1100" dirty="0"/>
              </a:p>
            </p:txBody>
          </p:sp>
          <p:sp>
            <p:nvSpPr>
              <p:cNvPr id="59" name="Text 57"/>
              <p:cNvSpPr/>
              <p:nvPr/>
            </p:nvSpPr>
            <p:spPr>
              <a:xfrm>
                <a:off x="6080760" y="3950208"/>
                <a:ext cx="118872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0.250</a:t>
                </a:r>
                <a:endParaRPr lang="en-US" sz="1100" dirty="0"/>
              </a:p>
            </p:txBody>
          </p:sp>
          <p:sp>
            <p:nvSpPr>
              <p:cNvPr id="60" name="Text 58"/>
              <p:cNvSpPr/>
              <p:nvPr/>
            </p:nvSpPr>
            <p:spPr>
              <a:xfrm>
                <a:off x="7406640" y="3950208"/>
                <a:ext cx="132588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1.000</a:t>
                </a:r>
                <a:endParaRPr lang="en-US" sz="1100" dirty="0"/>
              </a:p>
            </p:txBody>
          </p:sp>
          <p:sp>
            <p:nvSpPr>
              <p:cNvPr id="62" name="Text 60"/>
              <p:cNvSpPr/>
              <p:nvPr/>
            </p:nvSpPr>
            <p:spPr>
              <a:xfrm>
                <a:off x="548640" y="4315968"/>
                <a:ext cx="96012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T003</a:t>
                </a:r>
                <a:endParaRPr lang="en-US" sz="1100" dirty="0"/>
              </a:p>
            </p:txBody>
          </p:sp>
          <p:sp>
            <p:nvSpPr>
              <p:cNvPr id="63" name="Text 61"/>
              <p:cNvSpPr/>
              <p:nvPr/>
            </p:nvSpPr>
            <p:spPr>
              <a:xfrm>
                <a:off x="1645920" y="4315968"/>
                <a:ext cx="150876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Single LLM</a:t>
                </a:r>
                <a:endParaRPr lang="en-US" sz="1100" dirty="0"/>
              </a:p>
            </p:txBody>
          </p:sp>
          <p:sp>
            <p:nvSpPr>
              <p:cNvPr id="64" name="Text 62"/>
              <p:cNvSpPr/>
              <p:nvPr/>
            </p:nvSpPr>
            <p:spPr>
              <a:xfrm>
                <a:off x="3291840" y="4315968"/>
                <a:ext cx="128016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0.800</a:t>
                </a:r>
                <a:endParaRPr lang="en-US" sz="1100" dirty="0"/>
              </a:p>
            </p:txBody>
          </p:sp>
          <p:sp>
            <p:nvSpPr>
              <p:cNvPr id="65" name="Text 63"/>
              <p:cNvSpPr/>
              <p:nvPr/>
            </p:nvSpPr>
            <p:spPr>
              <a:xfrm>
                <a:off x="4709160" y="4315968"/>
                <a:ext cx="123444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0.9847</a:t>
                </a:r>
                <a:endParaRPr lang="en-US" sz="1100" dirty="0"/>
              </a:p>
            </p:txBody>
          </p:sp>
          <p:sp>
            <p:nvSpPr>
              <p:cNvPr id="66" name="Text 64"/>
              <p:cNvSpPr/>
              <p:nvPr/>
            </p:nvSpPr>
            <p:spPr>
              <a:xfrm>
                <a:off x="6080760" y="4315968"/>
                <a:ext cx="118872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1.000</a:t>
                </a:r>
                <a:endParaRPr lang="en-US" sz="1100" dirty="0"/>
              </a:p>
            </p:txBody>
          </p:sp>
          <p:sp>
            <p:nvSpPr>
              <p:cNvPr id="67" name="Text 65"/>
              <p:cNvSpPr/>
              <p:nvPr/>
            </p:nvSpPr>
            <p:spPr>
              <a:xfrm>
                <a:off x="7406640" y="4315968"/>
                <a:ext cx="132588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1.000</a:t>
                </a:r>
                <a:endParaRPr lang="en-US" sz="1100" dirty="0"/>
              </a:p>
            </p:txBody>
          </p:sp>
          <p:sp>
            <p:nvSpPr>
              <p:cNvPr id="68" name="Shape 66"/>
              <p:cNvSpPr/>
              <p:nvPr/>
            </p:nvSpPr>
            <p:spPr>
              <a:xfrm>
                <a:off x="502920" y="4608576"/>
                <a:ext cx="8321040" cy="3657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CCCCCC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9" name="Text 67"/>
              <p:cNvSpPr/>
              <p:nvPr/>
            </p:nvSpPr>
            <p:spPr>
              <a:xfrm>
                <a:off x="548640" y="4681728"/>
                <a:ext cx="96012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T003</a:t>
                </a:r>
                <a:endParaRPr lang="en-US" sz="1100" dirty="0"/>
              </a:p>
            </p:txBody>
          </p:sp>
          <p:sp>
            <p:nvSpPr>
              <p:cNvPr id="70" name="Text 68"/>
              <p:cNvSpPr/>
              <p:nvPr/>
            </p:nvSpPr>
            <p:spPr>
              <a:xfrm>
                <a:off x="1645920" y="4681728"/>
                <a:ext cx="150876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Paper Agent</a:t>
                </a:r>
                <a:endParaRPr lang="en-US" sz="1100" dirty="0"/>
              </a:p>
            </p:txBody>
          </p:sp>
          <p:sp>
            <p:nvSpPr>
              <p:cNvPr id="71" name="Text 69"/>
              <p:cNvSpPr/>
              <p:nvPr/>
            </p:nvSpPr>
            <p:spPr>
              <a:xfrm>
                <a:off x="3291840" y="4681728"/>
                <a:ext cx="128016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0.200</a:t>
                </a:r>
                <a:endParaRPr lang="en-US" sz="1100" dirty="0"/>
              </a:p>
            </p:txBody>
          </p:sp>
          <p:sp>
            <p:nvSpPr>
              <p:cNvPr id="72" name="Text 70"/>
              <p:cNvSpPr/>
              <p:nvPr/>
            </p:nvSpPr>
            <p:spPr>
              <a:xfrm>
                <a:off x="4709160" y="4681728"/>
                <a:ext cx="123444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0.4275</a:t>
                </a:r>
                <a:endParaRPr lang="en-US" sz="1100" dirty="0"/>
              </a:p>
            </p:txBody>
          </p:sp>
          <p:sp>
            <p:nvSpPr>
              <p:cNvPr id="73" name="Text 71"/>
              <p:cNvSpPr/>
              <p:nvPr/>
            </p:nvSpPr>
            <p:spPr>
              <a:xfrm>
                <a:off x="6080760" y="4681728"/>
                <a:ext cx="118872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0.250</a:t>
                </a:r>
                <a:endParaRPr lang="en-US" sz="1100" dirty="0"/>
              </a:p>
            </p:txBody>
          </p:sp>
          <p:sp>
            <p:nvSpPr>
              <p:cNvPr id="74" name="Text 72"/>
              <p:cNvSpPr/>
              <p:nvPr/>
            </p:nvSpPr>
            <p:spPr>
              <a:xfrm>
                <a:off x="7406640" y="4681728"/>
                <a:ext cx="132588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1.000</a:t>
                </a:r>
                <a:endParaRPr lang="en-US" sz="1100" dirty="0"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90195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64515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분석 — Single LLM의 함정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141171"/>
            <a:ext cx="813816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14538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표면적 지표 (높아 보임)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083827"/>
            <a:ext cx="3657600" cy="658368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2175267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0.667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331720" y="2266707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Precision_at_5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833635"/>
            <a:ext cx="3657600" cy="658368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2925075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0.995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331720" y="3016515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Ndcg_at_5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583443"/>
            <a:ext cx="3657600" cy="658368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3674883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331720" y="3766323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Gold Hit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2881529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74920" y="14538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문제점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74920" y="1900947"/>
            <a:ext cx="3657600" cy="749808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230368" y="196769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저널 필터링 미적용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30368" y="224201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 of Managerial Science 등 미승인 저널 논문 포함 (Top Journal 0.933)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74920" y="2742195"/>
            <a:ext cx="3657600" cy="749808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230368" y="2831237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추적 불가 블랙박스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30368" y="3105557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 논문을 추천했는지 설명 근거 없음 — 학술 연구 적용 불가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0" y="3583443"/>
            <a:ext cx="3657600" cy="749808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230368" y="3674883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재현 불가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30368" y="3949203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쿼리에 다른 결과 반환 가능 — 검증 및 감사 체계 부재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1101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25421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Paper Agent 핵심 강점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102077"/>
            <a:ext cx="813816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606040" cy="182880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23957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DOI 정확도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72491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추천 논문이 실제 존재하는 논문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353312"/>
            <a:ext cx="2606040" cy="182880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291840" y="1417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291840" y="23957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환각 발생률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72491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가짜 논문 생성 완전 차단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353312"/>
            <a:ext cx="2606040" cy="182880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80760" y="1417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080760" y="23957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 저널 정밀도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0760" y="272491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S급·A1급 승인 저널 100% 준수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218688"/>
            <a:ext cx="8183880" cy="1627632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85800" y="331012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Precision이 낮아도 괜찮은가?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657600"/>
            <a:ext cx="79552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Gold Label 풀이 현재 T001~T003 초기 3개 태스크에 한정되어 </a:t>
            </a:r>
            <a:r>
              <a:rPr lang="en-US" sz="115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분모가</a:t>
            </a: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</a:t>
            </a:r>
            <a:r>
              <a:rPr lang="ko-KR" alt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</a:t>
            </a: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Paper Agent는 엄격한 저널 필터링과 DOI 교차검증을 먼저 통과시키기 때문에 초기 Precision이 낮을 수 있으나, 추천된 논문은 100% 진짜이며 100% 톱 티어 저널 소속임이 </a:t>
            </a:r>
            <a:r>
              <a:rPr lang="en-US" sz="115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완벽히</a:t>
            </a: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dirty="0" err="1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r>
              <a:rPr lang="ko-KR" alt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됨</a:t>
            </a: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Gold Label 확대 시 Precision·NDCG 수치도 함께 상승 예정.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3055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ANALYSIS  ·  DISTRIBUTION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87375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방법론별 결과 분포 분석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164031"/>
            <a:ext cx="813816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147323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Rule-Based  (15건)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38994"/>
            <a:ext cx="3931920" cy="5486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58368" y="197615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Include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37360" y="2003586"/>
            <a:ext cx="26822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097024" y="197615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2건  13%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497362"/>
            <a:ext cx="3931920" cy="5486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58368" y="263452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737360" y="2661954"/>
            <a:ext cx="1207008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035808" y="263452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9건  60%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155730"/>
            <a:ext cx="3931920" cy="5486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8368" y="329289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Reject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737360" y="3320322"/>
            <a:ext cx="536448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365248" y="329289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4건  27%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88725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자동 관련성: 2.47 / 5.0  ·  Gold 매칭: G001, G061  (2건)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1473234"/>
            <a:ext cx="10973" cy="27432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846320" y="147323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Single LLM  (15건)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838994"/>
            <a:ext cx="3931920" cy="5486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001768" y="197615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Include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80760" y="2003586"/>
            <a:ext cx="1207008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379208" y="197615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9건  60%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497362"/>
            <a:ext cx="3931920" cy="5486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001768" y="263452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80760" y="2661954"/>
            <a:ext cx="670560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842760" y="263452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5건  33%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155730"/>
            <a:ext cx="3931920" cy="5486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001768" y="329289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Reject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80760" y="3320322"/>
            <a:ext cx="134112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306312" y="329289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1건  7%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88725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자동 관련성: 3.87 / 5.0  ·  Gold 매칭: G001~G009, G061  (10건)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428044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Single LLM은 Gold 매칭 수는 많으나 비승인 저널(Review of Managerial Science 등) 포함, Top Journal Precision 0.933으로 하락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계획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321040" cy="96012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15544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48132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T004 ~ T020 벤치마크 확장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82880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3개 태스크를 20개로 확대. 벤치마크 스크립트 전체 실행 및 데이터 분석을 통해 시스템 우수성을 완벽히 증명.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8321040" cy="96012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265176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57860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Gold Label 정교화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92608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많은 Gold Label 확보로 Precision·NDCG 수치 상승 기대. 분모 확대 작업 진행 중.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566160"/>
            <a:ext cx="8321040" cy="96012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66928" y="37490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67588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논문 및 발표 자료 완성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402336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IEEE 양식 최종 논문(Section 8)에 벤치마크 결과 반영. 구현된 대시보드 화면과 아키텍처 다이어그램 삽입.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1245</Words>
  <Application>Microsoft Macintosh PowerPoint</Application>
  <PresentationFormat>화면 슬라이드 쇼(16:9)</PresentationFormat>
  <Paragraphs>285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Arial</vt:lpstr>
      <vt:lpstr>Courier New</vt:lpstr>
      <vt:lpstr>Pretendard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Agent Benchmark</dc:title>
  <dc:subject>PptxGenJS Presentation</dc:subject>
  <dc:creator>PptxGenJS</dc:creator>
  <cp:lastModifiedBy>김주현</cp:lastModifiedBy>
  <cp:revision>3</cp:revision>
  <dcterms:created xsi:type="dcterms:W3CDTF">2026-05-30T08:49:04Z</dcterms:created>
  <dcterms:modified xsi:type="dcterms:W3CDTF">2026-05-30T09:08:38Z</dcterms:modified>
</cp:coreProperties>
</file>